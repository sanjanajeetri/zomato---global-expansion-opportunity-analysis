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Restaurants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India</c:v>
                </c:pt>
                <c:pt idx="1">
                  <c:v>USA</c:v>
                </c:pt>
                <c:pt idx="2">
                  <c:v>UK</c:v>
                </c:pt>
                <c:pt idx="3">
                  <c:v>Brazil</c:v>
                </c:pt>
                <c:pt idx="4">
                  <c:v>S. Africa</c:v>
                </c:pt>
                <c:pt idx="5">
                  <c:v>UAE</c:v>
                </c:pt>
                <c:pt idx="6">
                  <c:v>N. Zealand</c:v>
                </c:pt>
                <c:pt idx="7">
                  <c:v>Turkey</c:v>
                </c:pt>
                <c:pt idx="8">
                  <c:v>Australia</c:v>
                </c:pt>
                <c:pt idx="9">
                  <c:v>Philippines</c:v>
                </c:pt>
                <c:pt idx="10">
                  <c:v>Indonesia</c:v>
                </c:pt>
                <c:pt idx="11">
                  <c:v>Qatar</c:v>
                </c:pt>
                <c:pt idx="12">
                  <c:v>Singapore</c:v>
                </c:pt>
                <c:pt idx="13">
                  <c:v>Sri Lanka</c:v>
                </c:pt>
                <c:pt idx="14">
                  <c:v>Canada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8652</c:v>
                </c:pt>
                <c:pt idx="1">
                  <c:v>425</c:v>
                </c:pt>
                <c:pt idx="2">
                  <c:v>80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40</c:v>
                </c:pt>
                <c:pt idx="7">
                  <c:v>34</c:v>
                </c:pt>
                <c:pt idx="8">
                  <c:v>24</c:v>
                </c:pt>
                <c:pt idx="9">
                  <c:v>22</c:v>
                </c:pt>
                <c:pt idx="10">
                  <c:v>21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1B-44FA-802D-2DE2CAD8CC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 Opened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1079</c:v>
                </c:pt>
                <c:pt idx="1">
                  <c:v>1096</c:v>
                </c:pt>
                <c:pt idx="2">
                  <c:v>1022</c:v>
                </c:pt>
                <c:pt idx="3">
                  <c:v>1059</c:v>
                </c:pt>
                <c:pt idx="4">
                  <c:v>1049</c:v>
                </c:pt>
                <c:pt idx="5">
                  <c:v>1023</c:v>
                </c:pt>
                <c:pt idx="6">
                  <c:v>1026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51-4547-BC15-12DA4381E7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India</c:v>
                </c:pt>
                <c:pt idx="1">
                  <c:v>Singapore</c:v>
                </c:pt>
                <c:pt idx="2">
                  <c:v>Canada</c:v>
                </c:pt>
                <c:pt idx="3">
                  <c:v>Australia</c:v>
                </c:pt>
                <c:pt idx="4">
                  <c:v>Brazil</c:v>
                </c:pt>
                <c:pt idx="5">
                  <c:v>Sri Lanka</c:v>
                </c:pt>
                <c:pt idx="6">
                  <c:v>Qatar</c:v>
                </c:pt>
                <c:pt idx="7">
                  <c:v>UK</c:v>
                </c:pt>
                <c:pt idx="8">
                  <c:v>USA</c:v>
                </c:pt>
                <c:pt idx="9">
                  <c:v>S. Africa</c:v>
                </c:pt>
                <c:pt idx="10">
                  <c:v>UAE</c:v>
                </c:pt>
                <c:pt idx="11">
                  <c:v>N. Zealand</c:v>
                </c:pt>
                <c:pt idx="12">
                  <c:v>Turkey</c:v>
                </c:pt>
                <c:pt idx="13">
                  <c:v>Indonesia</c:v>
                </c:pt>
                <c:pt idx="14">
                  <c:v>Philippines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2.77</c:v>
                </c:pt>
                <c:pt idx="1">
                  <c:v>3.5750000000000002</c:v>
                </c:pt>
                <c:pt idx="2">
                  <c:v>3.5750000000000002</c:v>
                </c:pt>
                <c:pt idx="3">
                  <c:v>3.6579999999999999</c:v>
                </c:pt>
                <c:pt idx="4">
                  <c:v>3.847</c:v>
                </c:pt>
                <c:pt idx="5">
                  <c:v>3.87</c:v>
                </c:pt>
                <c:pt idx="6">
                  <c:v>4.0599999999999996</c:v>
                </c:pt>
                <c:pt idx="7">
                  <c:v>4.0999999999999996</c:v>
                </c:pt>
                <c:pt idx="8">
                  <c:v>4.0140000000000002</c:v>
                </c:pt>
                <c:pt idx="9">
                  <c:v>4.21</c:v>
                </c:pt>
                <c:pt idx="10">
                  <c:v>4.2329999999999997</c:v>
                </c:pt>
                <c:pt idx="11">
                  <c:v>4.2625000000000002</c:v>
                </c:pt>
                <c:pt idx="12">
                  <c:v>4.3</c:v>
                </c:pt>
                <c:pt idx="13">
                  <c:v>4.2949999999999999</c:v>
                </c:pt>
                <c:pt idx="14">
                  <c:v>4.468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A9-4496-9401-EB18ACFE4E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Online Delivery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D84-4B86-88F6-7A86C193B1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D84-4B86-88F6-7A86C193B113}"/>
              </c:ext>
            </c:extLst>
          </c:dPt>
          <c:dLbls>
            <c:dLbl>
              <c:idx val="0"/>
              <c:layout>
                <c:manualLayout>
                  <c:x val="-0.17846709590988627"/>
                  <c:y val="-0.20560920450981363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84-4B86-88F6-7A86C193B113}"/>
                </c:ext>
              </c:extLst>
            </c:dLbl>
            <c:dLbl>
              <c:idx val="1"/>
              <c:layout>
                <c:manualLayout>
                  <c:x val="0.13658170658355206"/>
                  <c:y val="0.15145306129186681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D84-4B86-88F6-7A86C193B11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Online Delivery</c:v>
                </c:pt>
                <c:pt idx="1">
                  <c:v>Has Online Delivery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7091</c:v>
                </c:pt>
                <c:pt idx="1">
                  <c:v>2451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84-4B86-88F6-7A86C193B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Online Booking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BE3-48DB-A890-7FFA622BB06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BE3-48DB-A890-7FFA622BB060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BE3-48DB-A890-7FFA622BB060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BE3-48DB-A890-7FFA622BB0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Table Booking</c:v>
                </c:pt>
                <c:pt idx="1">
                  <c:v>Has Table Booking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8384</c:v>
                </c:pt>
                <c:pt idx="1">
                  <c:v>1158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E3-48DB-A890-7FFA622BB0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Chinese
(Qatar)</c:v>
                </c:pt>
                <c:pt idx="1">
                  <c:v>Japanese/
Sushi (PH)</c:v>
                </c:pt>
                <c:pt idx="2">
                  <c:v>Sunda,
Indonesian</c:v>
                </c:pt>
                <c:pt idx="3">
                  <c:v>Filipino/
Mexican</c:v>
                </c:pt>
                <c:pt idx="4">
                  <c:v>French/Japanese/
Desserts (PH)</c:v>
                </c:pt>
                <c:pt idx="5">
                  <c:v>European/Asian/
Indian (PH)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4.9000000000000004</c:v>
                </c:pt>
                <c:pt idx="2">
                  <c:v>4.9000000000000004</c:v>
                </c:pt>
                <c:pt idx="3">
                  <c:v>4.8499999999999996</c:v>
                </c:pt>
                <c:pt idx="4">
                  <c:v>4.8</c:v>
                </c:pt>
                <c:pt idx="5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17-409F-8B0F-33086E7044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Range 1 (lowest)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</c:v>
                </c:pt>
                <c:pt idx="1">
                  <c:v>Indonesia</c:v>
                </c:pt>
                <c:pt idx="2">
                  <c:v>Philippines</c:v>
                </c:pt>
                <c:pt idx="3">
                  <c:v>Qatar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0.496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CE-43DF-B1CC-6AA9EBF63F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</c:v>
                </c:pt>
                <c:pt idx="1">
                  <c:v>Indonesia</c:v>
                </c:pt>
                <c:pt idx="2">
                  <c:v>Philippines</c:v>
                </c:pt>
                <c:pt idx="3">
                  <c:v>Qatar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0.33</c:v>
                </c:pt>
                <c:pt idx="1">
                  <c:v>4.8000000000000001E-2</c:v>
                </c:pt>
                <c:pt idx="2">
                  <c:v>4.4999999999999998E-2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CE-43DF-B1CC-6AA9EBF63F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Range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</c:v>
                </c:pt>
                <c:pt idx="1">
                  <c:v>Indonesia</c:v>
                </c:pt>
                <c:pt idx="2">
                  <c:v>Philippines</c:v>
                </c:pt>
                <c:pt idx="3">
                  <c:v>Qatar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0.128</c:v>
                </c:pt>
                <c:pt idx="1">
                  <c:v>0.95199999999999996</c:v>
                </c:pt>
                <c:pt idx="2">
                  <c:v>0.54500000000000004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CE-43DF-B1CC-6AA9EBF63F7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Range 4 (highest)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</c:v>
                </c:pt>
                <c:pt idx="1">
                  <c:v>Indonesia</c:v>
                </c:pt>
                <c:pt idx="2">
                  <c:v>Philippines</c:v>
                </c:pt>
                <c:pt idx="3">
                  <c:v>Qatar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4.4999999999999998E-2</c:v>
                </c:pt>
                <c:pt idx="1">
                  <c:v>0</c:v>
                </c:pt>
                <c:pt idx="2">
                  <c:v>0.40899999999999997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6CE-43DF-B1CC-6AA9EBF63F7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41A15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241A15"/>
                </a:solidFill>
                <a:latin typeface="Arial"/>
              </a:rPr>
              <a:t>% Restaurants having online booking</a:t>
            </a:r>
          </a:p>
        </c:rich>
      </c:tx>
      <c:overlay val="0"/>
    </c:title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76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010813"/>
            <a:ext cx="3291840" cy="915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ZOMATO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</a:t>
            </a:r>
            <a:endParaRPr lang="en-US" sz="32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32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663440" y="2253498"/>
            <a:ext cx="6766560" cy="1404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Recommendations for New Market Entry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663440" y="36576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8C9BE"/>
                </a:solidFill>
              </a:rPr>
              <a:t> Zomato Global Restaurant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9BE"/>
                </a:solidFill>
              </a:rPr>
              <a:t>Prepared by: Jeetri Sanjana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Zomato is looking to expand its restaurant network and needs to identify the most suitable markets for opening new restaurants, based on competition, customer ratings, and market potential.</a:t>
            </a:r>
            <a:endParaRPr lang="en-US" sz="1600" dirty="0"/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A15"/>
                </a:solidFill>
              </a:rPr>
              <a:t>Where?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5C"/>
                </a:solidFill>
              </a:rPr>
              <a:t>Which countries and cities carry the lowest competition today?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32461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3520440"/>
            <a:ext cx="502920" cy="502920"/>
          </a:xfrm>
          <a:prstGeom prst="ellipse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A15"/>
                </a:solidFill>
              </a:rPr>
              <a:t>How good is it there?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4709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5C"/>
                </a:solidFill>
              </a:rPr>
              <a:t>Are the restaurants already operating in those markets satisfying customers?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32461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75320" y="3520440"/>
            <a:ext cx="502920" cy="502920"/>
          </a:xfrm>
          <a:prstGeom prst="ellipse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753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A15"/>
                </a:solidFill>
              </a:rPr>
              <a:t>What should we serve, and how?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4709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5C"/>
                </a:solidFill>
              </a:rPr>
              <a:t>Which cuisines and service features (delivery, booking) actually move ratings?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2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9,542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5C"/>
                </a:solidFill>
              </a:rPr>
              <a:t>Restaurants analyzed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66420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2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5C"/>
                </a:solidFill>
              </a:rPr>
              <a:t>Countries covered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66420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2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2010-2018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5C"/>
                </a:solidFill>
              </a:rPr>
              <a:t>Years of openings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9680" y="1554480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0" y="166420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2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5C"/>
                </a:solidFill>
              </a:rPr>
              <a:t>Attributes per record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5"/>
                </a:solidFill>
              </a:rPr>
              <a:t>What the dataset contains: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45C"/>
                </a:solidFill>
              </a:rPr>
              <a:t>Restaurant name, location (country, city, address)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45C"/>
                </a:solidFill>
              </a:rPr>
              <a:t>Cuisines served, currency, price range (1-4)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45C"/>
                </a:solidFill>
              </a:rPr>
              <a:t>Online delivery, table booking, and live-order flags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45C"/>
                </a:solidFill>
              </a:rPr>
              <a:t>Votes, average cost for two, and customer rating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63640" y="3108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5"/>
                </a:solidFill>
              </a:rPr>
              <a:t>Cleaning steps applied before analysis: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52044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45C"/>
                </a:solidFill>
              </a:rPr>
              <a:t>Country names attached to CountryCode via lookup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45C"/>
                </a:solidFill>
              </a:rPr>
              <a:t>Missing cuisine values fixed, currency symbol errors fixed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45C"/>
                </a:solidFill>
              </a:rPr>
              <a:t>Costs converted to a common USD basis for fair comparison</a:t>
            </a:r>
          </a:p>
          <a:p>
            <a:pPr>
              <a:spcAft>
                <a:spcPts val="800"/>
              </a:spcAft>
              <a:buSzPct val="100000"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Zomato's Restaurants Today?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635708944"/>
              </p:ext>
            </p:extLst>
          </p:nvPr>
        </p:nvGraphicFramePr>
        <p:xfrm>
          <a:off x="640080" y="1417320"/>
          <a:ext cx="6949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417320"/>
            <a:ext cx="3794760" cy="5029200"/>
          </a:xfrm>
          <a:prstGeom prst="roundRect">
            <a:avLst>
              <a:gd name="adj" fmla="val 1446"/>
            </a:avLst>
          </a:prstGeom>
          <a:solidFill>
            <a:srgbClr val="F7F1EA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1000" y="1581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202D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20240"/>
            <a:ext cx="33375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India holds 8,652 of 9,542 restaurants (91%) - the market is saturated, not open.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Philippines (22), Indonesia (21) and Qatar (20) sit at the opposite extreme - a small, easily-benchmarked existing footprint.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USA (425) and UK (80) are mid-sized markets - more established than our targets, but far from India's scale.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Openings Have Been Steady, Not Explosive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44172140"/>
              </p:ext>
            </p:extLst>
          </p:nvPr>
        </p:nvGraphicFramePr>
        <p:xfrm>
          <a:off x="640080" y="1417320"/>
          <a:ext cx="6949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417320"/>
            <a:ext cx="3794760" cy="5029200"/>
          </a:xfrm>
          <a:prstGeom prst="roundRect">
            <a:avLst>
              <a:gd name="adj" fmla="val 1446"/>
            </a:avLst>
          </a:prstGeom>
          <a:solidFill>
            <a:srgbClr val="F7F1EA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1000" y="1581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202D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20240"/>
            <a:ext cx="33375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Roughly 1,000-1,100 new restaurants open every year across the dataset - no single year dominates.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2018 (1,102) and 2011 (1,096) are the busiest years; 2012 (1,022) the quietest - a gentle, not explosive, growth curve.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A steady pace means Zomato is not entering a fast-closing window - a phased rollout across the target countries is realistic.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Competition Doesn't Mean Low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188499395"/>
              </p:ext>
            </p:extLst>
          </p:nvPr>
        </p:nvGraphicFramePr>
        <p:xfrm>
          <a:off x="640080" y="1417320"/>
          <a:ext cx="6949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417320"/>
            <a:ext cx="3794760" cy="5029200"/>
          </a:xfrm>
          <a:prstGeom prst="roundRect">
            <a:avLst>
              <a:gd name="adj" fmla="val 1446"/>
            </a:avLst>
          </a:prstGeom>
          <a:solidFill>
            <a:srgbClr val="F7F1EA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1000" y="1581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202D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20240"/>
            <a:ext cx="33375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Philippines (4.47), Indonesia (4.30) and Qatar (4.06) all rate well above the global average of 2.89.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India, despite having the most restaurants, has the lowest average rating (2.77) - a sign of saturation, not opportunity.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Combining this with the competition chart: Philippines, Indonesia and Qatar are the only countries that are both low-competition AND high-rated.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Restaurants Still Don't Deliver Online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25974927"/>
              </p:ext>
            </p:extLst>
          </p:nvPr>
        </p:nvGraphicFramePr>
        <p:xfrm>
          <a:off x="1188720" y="1463040"/>
          <a:ext cx="58521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417320"/>
            <a:ext cx="3794760" cy="5029200"/>
          </a:xfrm>
          <a:prstGeom prst="roundRect">
            <a:avLst>
              <a:gd name="adj" fmla="val 1446"/>
            </a:avLst>
          </a:prstGeom>
          <a:solidFill>
            <a:srgbClr val="F7F1EA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1000" y="1581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202D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20240"/>
            <a:ext cx="33375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Only 26% of restaurants (2,451 of 9,542) offer online delivery - most of the market still hasn't adopted it.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Restaurants WITH delivery average a 3.48 rating vs. 2.81 without - a full 0.67-point lift.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In Qatar specifically, delivery lifts average rating from 4.03 to 4.70 - the single biggest swing seen in any recommended country.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Booking Is Even Rarer - and It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496421551"/>
              </p:ext>
            </p:extLst>
          </p:nvPr>
        </p:nvGraphicFramePr>
        <p:xfrm>
          <a:off x="1188720" y="1463040"/>
          <a:ext cx="58521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417320"/>
            <a:ext cx="3794760" cy="5029200"/>
          </a:xfrm>
          <a:prstGeom prst="roundRect">
            <a:avLst>
              <a:gd name="adj" fmla="val 1446"/>
            </a:avLst>
          </a:prstGeom>
          <a:solidFill>
            <a:srgbClr val="F7F1EA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1000" y="1581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202D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20240"/>
            <a:ext cx="33375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Just 12% of restaurants (1,158 of 9,542) offer table booking - an even bigger gap than online delivery.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In the Philippines, restaurants with booking (14 of 22) average 4.49 vs. 4.43 without - a smaller but real edge.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Qatar shows almost no booking adoption (1 of 20 restaurants) - a clear, low-competition feature gap to fill early.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Cuisines Earn the Best Ratings?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863371919"/>
              </p:ext>
            </p:extLst>
          </p:nvPr>
        </p:nvGraphicFramePr>
        <p:xfrm>
          <a:off x="640080" y="1417320"/>
          <a:ext cx="6949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417320"/>
            <a:ext cx="3794760" cy="5029200"/>
          </a:xfrm>
          <a:prstGeom prst="roundRect">
            <a:avLst>
              <a:gd name="adj" fmla="val 1446"/>
            </a:avLst>
          </a:prstGeom>
          <a:solidFill>
            <a:srgbClr val="F7F1EA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1000" y="1581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202D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20240"/>
            <a:ext cx="33375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The single highest-rated cuisine combos in our target countries all score 4.8-4.9/5: Chinese in Qatar, Japanese/Sushi and fusion menus in the Philippines, and Sunda/Indonesian.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Cuisine choice clearly moves ratings - broader, unfocused menus in the same markets sit closer to 3.6-4.0.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Recommendation: lead new openings with a focused, locally-resonant cuisine rather than a generic multi-cuisine menu.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Price-Tier Gaps in the Target Countries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52591891"/>
              </p:ext>
            </p:extLst>
          </p:nvPr>
        </p:nvGraphicFramePr>
        <p:xfrm>
          <a:off x="640080" y="1417320"/>
          <a:ext cx="6949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417320"/>
            <a:ext cx="3794760" cy="5029200"/>
          </a:xfrm>
          <a:prstGeom prst="roundRect">
            <a:avLst>
              <a:gd name="adj" fmla="val 1446"/>
            </a:avLst>
          </a:prstGeom>
          <a:solidFill>
            <a:srgbClr val="F7F1EA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1000" y="1581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202D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20240"/>
            <a:ext cx="33375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India is dominated by the lowest price tiers (83% in Range 1-2) - a mass-market, price-sensitive base.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Indonesia is almost entirely mid-tier (95% Range 3) and Qatar skews to the top (70% Range 4) - both are missing an accessible, lower-priced option.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1A15"/>
                </a:solidFill>
              </a:rPr>
              <a:t>Philippines has the most balanced spread - a useful reference point for how to mix tiers in a new market.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Zomato Analytics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Chart 4"/>
          <p:cNvGraphicFramePr/>
          <p:nvPr/>
        </p:nvGraphicFramePr>
        <p:xfrm>
          <a:off x="4343400" y="3886200"/>
          <a:ext cx="35661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11</a:t>
            </a:r>
            <a:endParaRPr lang="en-US" sz="1000" dirty="0"/>
          </a:p>
        </p:txBody>
      </p:sp>
      <p:sp>
        <p:nvSpPr>
          <p:cNvPr id="12" name="Text 4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5C"/>
                </a:solidFill>
              </a:rPr>
              <a:t>ZOMATO EXPANSION STUDY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176955-77A8-923D-9D3E-455DF9700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68" y="1620961"/>
            <a:ext cx="11133785" cy="44847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Recommendation: Where &amp; How to Expand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0584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Restaurants Today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Avg. Rating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Cities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Cost/2 (USD)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Philippines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4.47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Makati, Taguig, Pasig, Mandaluyong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$116.69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Indonesia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4.30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Jakarta, Bandung, Tangerang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$18.22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Qatar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4.06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Doha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1A15"/>
                          </a:solidFill>
                        </a:rPr>
                        <a:t>$61.47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42900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1248" y="35935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202D"/>
                </a:solidFill>
              </a:rPr>
              <a:t>Cuisine &amp; Menu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4023360"/>
            <a:ext cx="3108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1A15"/>
                </a:solidFill>
              </a:rPr>
              <a:t>Lead with a focused, high-rated cuisine per market: Chinese/Indian in Qatar, Japanese/fusion in the Philippines, Sunda/Indonesian in Indonesia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1A15"/>
                </a:solidFill>
              </a:rPr>
              <a:t>Avoid broad, unfocused multi-cuisine menus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342900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44568" y="35935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202D"/>
                </a:solidFill>
              </a:rPr>
              <a:t>Service Features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44568" y="4023360"/>
            <a:ext cx="3108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1A15"/>
                </a:solidFill>
              </a:rPr>
              <a:t>Launch every location with online delivery from day one - it lifts rating by ~0.67 points on average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1A15"/>
                </a:solidFill>
              </a:rPr>
              <a:t>Add table booking early, especially in Qatar where adoption is near-zero (1 of 20 restaurants)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342900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0"/>
          <p:cNvSpPr/>
          <p:nvPr/>
        </p:nvSpPr>
        <p:spPr>
          <a:xfrm>
            <a:off x="8247888" y="35935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202D"/>
                </a:solidFill>
              </a:rPr>
              <a:t>Pricing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47888" y="4023360"/>
            <a:ext cx="3108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1A15"/>
                </a:solidFill>
              </a:rPr>
              <a:t>Indonesia and Qatar both lack an accessible lower-price tier - fill that gap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1A15"/>
                </a:solidFill>
              </a:rPr>
              <a:t>Use Philippines' balanced price mix as a reference model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371600"/>
            <a:ext cx="1097280" cy="45720"/>
          </a:xfrm>
          <a:prstGeom prst="rect">
            <a:avLst/>
          </a:prstGeom>
          <a:solidFill>
            <a:srgbClr val="C02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784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FE6DC"/>
                </a:solidFill>
              </a:rPr>
              <a:t>India is saturated (91% of listings) and low-rated (2.77) - not where growth should come from.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FE6DC"/>
                </a:solidFill>
              </a:rPr>
              <a:t>Philippines, Indonesia and Qatar are the only markets combining low competition with above-average ratings (4.06-4.47).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FE6DC"/>
                </a:solidFill>
              </a:rPr>
              <a:t>Online delivery and table booking are the two clearest, most under-used levers for improving ratings in these markets.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FE6DC"/>
                </a:solidFill>
              </a:rPr>
              <a:t>A focused, locally-resonant cuisine outperforms a broad multi-cuisine menu in every recommended country.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2A93B"/>
                </a:solidFill>
              </a:rPr>
              <a:t>Expand where the data points - not where the crowd already is.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5C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1027</Words>
  <Application>Microsoft Office PowerPoint</Application>
  <PresentationFormat>Widescreen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sanjana jeetri</cp:lastModifiedBy>
  <cp:revision>2</cp:revision>
  <dcterms:created xsi:type="dcterms:W3CDTF">2026-09-20T21:00:49Z</dcterms:created>
  <dcterms:modified xsi:type="dcterms:W3CDTF">2026-09-21T15:14:20Z</dcterms:modified>
</cp:coreProperties>
</file>